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f532971dfc45d0" /><Relationship Type="http://schemas.openxmlformats.org/officeDocument/2006/relationships/extended-properties" Target="/docProps/app.xml" Id="Ra168203cdc1349d0" /><Relationship Type="http://schemas.openxmlformats.org/officeDocument/2006/relationships/officeDocument" Target="/ppt/presentation.xml" Id="R6f8dc1836b854a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f03d909d84aad"/>
  </p:sldMasterIdLst>
  <p:notesMasterIdLst>
    <p:notesMasterId xmlns:r="http://schemas.openxmlformats.org/officeDocument/2006/relationships" r:id="Rc71dd8c471314ce5"/>
  </p:notesMasterIdLst>
  <p:sldIdLst>
    <p:sldId xmlns:r="http://schemas.openxmlformats.org/officeDocument/2006/relationships" id="256" r:id="R1a377a935adc4c24"/>
    <p:sldId xmlns:r="http://schemas.openxmlformats.org/officeDocument/2006/relationships" id="257" r:id="R47f1d55a6fca45b5"/>
    <p:sldId xmlns:r="http://schemas.openxmlformats.org/officeDocument/2006/relationships" id="258" r:id="R947ad8e2ac7d4f1a"/>
    <p:sldId xmlns:r="http://schemas.openxmlformats.org/officeDocument/2006/relationships" id="259" r:id="Rdb5d25b3b34045a0"/>
    <p:sldId xmlns:r="http://schemas.openxmlformats.org/officeDocument/2006/relationships" id="260" r:id="R161f7e6a6d334600"/>
    <p:sldId xmlns:r="http://schemas.openxmlformats.org/officeDocument/2006/relationships" id="261" r:id="R8e9cdf55b5574435"/>
    <p:sldId xmlns:r="http://schemas.openxmlformats.org/officeDocument/2006/relationships" id="262" r:id="Rca0c090b2d224084"/>
    <p:sldId xmlns:r="http://schemas.openxmlformats.org/officeDocument/2006/relationships" id="263" r:id="R5585877cf0104d9d"/>
    <p:sldId xmlns:r="http://schemas.openxmlformats.org/officeDocument/2006/relationships" id="264" r:id="R5a964fb7606c4fcf"/>
    <p:sldId xmlns:r="http://schemas.openxmlformats.org/officeDocument/2006/relationships" id="265" r:id="Rf929d22fa46d47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f03d909d84aad" /><Relationship Type="http://schemas.openxmlformats.org/officeDocument/2006/relationships/theme" Target="/ppt/theme/theme1.xml" Id="R9d5d7efdcfc646b7" /><Relationship Type="http://schemas.openxmlformats.org/officeDocument/2006/relationships/notesMaster" Target="/ppt/notesMasters/notesMaster1.xml" Id="Rc71dd8c471314ce5" /><Relationship Type="http://schemas.openxmlformats.org/officeDocument/2006/relationships/presProps" Target="/ppt/presProps.xml" Id="R3809cefacb504fdf" /><Relationship Type="http://schemas.openxmlformats.org/officeDocument/2006/relationships/viewProps" Target="/ppt/viewProps.xml" Id="R707d546c9880427c" /><Relationship Type="http://schemas.openxmlformats.org/officeDocument/2006/relationships/tableStyles" Target="/ppt/tableStyles.xml" Id="R39c061c24dc240f7" /><Relationship Type="http://schemas.openxmlformats.org/officeDocument/2006/relationships/slide" Target="/ppt/slides/slide1.xml" Id="R1a377a935adc4c24" /><Relationship Type="http://schemas.openxmlformats.org/officeDocument/2006/relationships/slide" Target="/ppt/slides/slide2.xml" Id="R47f1d55a6fca45b5" /><Relationship Type="http://schemas.openxmlformats.org/officeDocument/2006/relationships/slide" Target="/ppt/slides/slide3.xml" Id="R947ad8e2ac7d4f1a" /><Relationship Type="http://schemas.openxmlformats.org/officeDocument/2006/relationships/slide" Target="/ppt/slides/slide4.xml" Id="Rdb5d25b3b34045a0" /><Relationship Type="http://schemas.openxmlformats.org/officeDocument/2006/relationships/slide" Target="/ppt/slides/slide5.xml" Id="R161f7e6a6d334600" /><Relationship Type="http://schemas.openxmlformats.org/officeDocument/2006/relationships/slide" Target="/ppt/slides/slide6.xml" Id="R8e9cdf55b5574435" /><Relationship Type="http://schemas.openxmlformats.org/officeDocument/2006/relationships/slide" Target="/ppt/slides/slide7.xml" Id="Rca0c090b2d224084" /><Relationship Type="http://schemas.openxmlformats.org/officeDocument/2006/relationships/slide" Target="/ppt/slides/slide8.xml" Id="R5585877cf0104d9d" /><Relationship Type="http://schemas.openxmlformats.org/officeDocument/2006/relationships/slide" Target="/ppt/slides/slide9.xml" Id="R5a964fb7606c4fcf" /><Relationship Type="http://schemas.openxmlformats.org/officeDocument/2006/relationships/slide" Target="/ppt/slides/slide10.xml" Id="Rf929d22fa46d47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889280c66c41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5f3116d5e242ea" /><Relationship Type="http://schemas.openxmlformats.org/officeDocument/2006/relationships/notesMaster" Target="/ppt/notesMasters/notesMaster1.xml" Id="R80f21cf99a4e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2be795b1f4c02" /><Relationship Type="http://schemas.openxmlformats.org/officeDocument/2006/relationships/notesMaster" Target="/ppt/notesMasters/notesMaster1.xml" Id="R7673f007a0be44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71b052c5fb459c" /><Relationship Type="http://schemas.openxmlformats.org/officeDocument/2006/relationships/notesMaster" Target="/ppt/notesMasters/notesMaster1.xml" Id="Rb78336eab260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44ad1ab2b476d" /><Relationship Type="http://schemas.openxmlformats.org/officeDocument/2006/relationships/notesMaster" Target="/ppt/notesMasters/notesMaster1.xml" Id="Rdf9b1a63e565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fbf6a8350842b5" /><Relationship Type="http://schemas.openxmlformats.org/officeDocument/2006/relationships/notesMaster" Target="/ppt/notesMasters/notesMaster1.xml" Id="R9d85435579f14e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f613a46fb4d80" /><Relationship Type="http://schemas.openxmlformats.org/officeDocument/2006/relationships/notesMaster" Target="/ppt/notesMasters/notesMaster1.xml" Id="R7652c6effcea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caa9d5eb4848b9" /><Relationship Type="http://schemas.openxmlformats.org/officeDocument/2006/relationships/notesMaster" Target="/ppt/notesMasters/notesMaster1.xml" Id="Rcfc430c2193d47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c1734425bf4eee" /><Relationship Type="http://schemas.openxmlformats.org/officeDocument/2006/relationships/notesMaster" Target="/ppt/notesMasters/notesMaster1.xml" Id="Rd07d9f0fe64145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f368c0948c41c0" /><Relationship Type="http://schemas.openxmlformats.org/officeDocument/2006/relationships/notesMaster" Target="/ppt/notesMasters/notesMaster1.xml" Id="R8468cc995cc344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053b0d11e140ab" /><Relationship Type="http://schemas.openxmlformats.org/officeDocument/2006/relationships/notesMaster" Target="/ppt/notesMasters/notesMaster1.xml" Id="R5b407c8f08f5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4115e1357417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b76c8c7cd44946" /><Relationship Type="http://schemas.openxmlformats.org/officeDocument/2006/relationships/slideLayout" Target="/ppt/slideLayouts/slideLayout2.xml" Id="Ra9672692c437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72692c437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a4e3aa5c74cc2" /><Relationship Type="http://schemas.openxmlformats.org/officeDocument/2006/relationships/notesSlide" Target="/ppt/notesSlides/notesSlide1.xml" Id="Rc969af60a3524b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f3049c6ec4eca" /><Relationship Type="http://schemas.openxmlformats.org/officeDocument/2006/relationships/notesSlide" Target="/ppt/notesSlides/notesSlide2.xml" Id="R38d614ef392141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67162a1d194d4f" /><Relationship Type="http://schemas.openxmlformats.org/officeDocument/2006/relationships/notesSlide" Target="/ppt/notesSlides/notesSlide3.xml" Id="R9c8bed7d9649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b42154d45541ac" /><Relationship Type="http://schemas.openxmlformats.org/officeDocument/2006/relationships/notesSlide" Target="/ppt/notesSlides/notesSlide4.xml" Id="Rc1692b3c869f4a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659836b0d41e7" /><Relationship Type="http://schemas.openxmlformats.org/officeDocument/2006/relationships/notesSlide" Target="/ppt/notesSlides/notesSlide5.xml" Id="R9d7477822089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e43c70409944cd" /><Relationship Type="http://schemas.openxmlformats.org/officeDocument/2006/relationships/notesSlide" Target="/ppt/notesSlides/notesSlide6.xml" Id="R93f1cbb50ac4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928dd47d0b494b" /><Relationship Type="http://schemas.openxmlformats.org/officeDocument/2006/relationships/notesSlide" Target="/ppt/notesSlides/notesSlide7.xml" Id="R1470f6e38304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10f58be83b4733" /><Relationship Type="http://schemas.openxmlformats.org/officeDocument/2006/relationships/notesSlide" Target="/ppt/notesSlides/notesSlide8.xml" Id="Re7b7d8d73d334c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1490c514d64c72" /><Relationship Type="http://schemas.openxmlformats.org/officeDocument/2006/relationships/notesSlide" Target="/ppt/notesSlides/notesSlide9.xml" Id="R52dfd720a0614c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219674b63d4c5d" /><Relationship Type="http://schemas.openxmlformats.org/officeDocument/2006/relationships/notesSlide" Target="/ppt/notesSlides/notesSlide10.xml" Id="Rb7619ce77e4146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C51F3-9E1F-40D1-A609-FD6A4F3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230B8-FC7E-4179-9A46-A1DF069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4850D-9B9F-4FBB-B3F6-B2798846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6482B-F6E8-4697-800F-2EA73B9F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AURORA CARE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D13F6-6FE9-44B5-8081-FA0A118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Tech Challenge IADT - Fase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67AEF-BCC3-450E-AC94-4DAA169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524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Integração AWS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serverless para relatórios de risco multimodal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EFBF0-AC80-439F-BFE0-10697F5B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inferência multimodal permanece local para proteger o orçamento de US$100. A AWS entra no trecho auditável: armazenamento, evento, indexação e evidência operacional.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8ED91-C502-407F-8927-5DE3BD0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94E3-4D6D-4297-8FCB-77DD840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04986-F24D-4FB6-B9D1-705DE73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1FFCD-9A34-436B-9A29-0D69615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ARMAZENAMENTO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F0DCC-A443-450B-AF5C-B0C0ECD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RiskReports JSON privados e criptografados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006A6-BD23-43E1-AE02-8EA7D89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AB587-6A5A-4A74-AAB7-8EB4C85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Lambda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0478B-0E04-4348-AAEB-C3A89A8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72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SERVERLESS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AFFF4-2431-484C-AED9-AF2CBABB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43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Processa evento de upload automaticamente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F2ABF-56E1-4C51-B645-46D64DC5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6F91E9-274E-4CB5-A679-16A57F0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33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DynamoDB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3B715-4B93-4E70-9CF0-5DC6A37A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72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ÍNDICE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0764D-E72D-4A5C-B875-4A1B1B0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543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Histórico por paciente pseudonimizado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35A10-2586-4FC3-9231-CD67F8D2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DD21A-EFF7-4AC9-9CAC-06A2609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33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$100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62D46-D2D0-48FF-B8E6-9547E956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721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LIMITE REAL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D6380-74C1-434C-B64A-00B5B9E7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43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Arquitetura desenhada para baixo custo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DD236-4186-4DF7-9861-EE884055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49621-418C-48A5-A2C5-48499B73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Entrega cloud: uma parte funcional da solução integrada à 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13D86-FC02-485B-AAA7-CEFAEEDB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32054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E807A-B176-4595-8720-C3A02775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5CE13-B20A-4857-AD12-B5E5B03B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11D67-8C3D-4624-B57E-52C3E76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BBA5C-E624-4E83-8091-B79D4EE2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 S C O P O   D A   E N T R E G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F6F42-5D78-4C57-B498-45C64381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orientação permite integrar uma fatia da solução, não migrar toda a 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97FF7-8043-4473-9634-AB5B8C4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953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9303B-2ADA-46BB-9D7A-D73B093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428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"Pode rodar uma pequena parte ou pedaço da solução, por exemplo utilizar uma Lambda serverless da AWS ou mesmo um bucket S3."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E2697-1AF2-4854-BD0D-7A3E14F9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Interpretação aplicada ao Aurora Care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E5F9C-CEB5-494B-A583-C0EB77CF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44767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31A06-E4FE-4DBD-9E67-7941BD7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Decisão arquitetural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16D35-BDB3-4261-9D1F-963DEC60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E8DB0-D490-4A50-B0E8-19D35CE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813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Modelos multimodais rodam localmente para evitar custo de GPU e serviços gerenciados.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CA47E-3F73-4B07-98FE-10615DAF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5511F-8C4C-4CF4-A823-A32EF66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956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AWS recebe o resultado da IA e executa uma cadeia serverless auditável.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5EB6A-E7FB-4B24-B5C2-87D338CC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6648B-723D-48B3-BF03-E924C55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100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A prova da integração é operacional: S3 aciona Lambda e indexa no DynamoDB.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BF207-23AC-43DF-8BD6-D423B04C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13BCE-3574-465D-8560-91DA4B1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053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 implementado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D37EF-7758-4E71-823C-FAE4158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DCDF4-4C99-4073-A633-35ACAA47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Lambda implementada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962DE-482D-4245-BAA4-97647A16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060F8-DE71-4F35-A72D-1180E2D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05375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DynamoDB implementado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ABDA9-8FAF-4337-BF20-C17FFEE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C9DEA1-798F-4467-9B33-F1C1D84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053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SNS provisionado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A7187-56E7-41B4-99E3-CCB09994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B5DE1-5D81-433D-A406-CF6D96C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 requisito foi atendido por uma integração cloud parcial, funcional e demonstrável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BE32F-3F2F-43BC-8243-89F99D6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4450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6C3F7-00A7-4356-AD61-FC9CA5B5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E93F7-D4B6-46CA-BF6C-2FB0B924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46712-E61C-4ECE-AB96-5F78214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CDD4A-2147-4666-8A60-3F8A061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 R Q U I T E T U R A   C O M P L E T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AD497-49D4-4960-BD58-54CDE413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Arquitetura completa: inferência local, persistência serverless e auditoria na AWS.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B79CA-4AFA-4F63-ABAA-2043BF3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F7ED8-BB3C-4909-9425-8DD40B3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Camada local de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F06FC-E93A-48A7-8ABF-411BBAA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BD79B-4B41-40B2-A378-9B4E4C0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8BC88-5940-4D9D-BE06-146EA932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Input multimodal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7CF2C-AAD0-4DFF-B252-31E53DE4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texto | áudio | vídeo | imagem | clínico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F3A31-0267-48AA-9D54-89D6E0C1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FBF84-5968-4508-B7B0-D4DCE3C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C751E-D20C-4892-A934-59DDCACB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67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Extratores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6B164-9C53-470E-8849-48668039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99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NLP léxico, áudio, YOLOv8, pose, CTG/Maternal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FBB13-1633-4C9D-9838-EB51F28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1AF8E-FD27-4435-8FD6-9EDC164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7EBEB-FD43-4FD9-99AA-A47B730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814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Fusion + Risk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BA205-7207-4D58-8457-FFC2FC96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243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score multimodal, prioridade, revisão humana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F4FF6-4FA3-49B6-BDDF-88F7574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60033-8BB0-453F-89AA-FF8EE9E9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F5F4B-E858-4BBA-A249-3AE0B82C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29000"/>
            <a:ext cx="-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90058-5BAC-4569-9E78-04699DB3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AC41D-D1F8-4B4F-B8CC-44949333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Saída persistida: RiskReport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EDBA2-F9E2-43F6-AE61-3D7F1B50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A23C9-E7CD-416E-96BA-A47E7ADE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Camada AWS serverless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DCB7D-5ED1-4513-9C71-DF315EA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31445-ADF6-41FD-B408-7F86478C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C8D70-65F5-4B6C-B428-FD68997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S3 reports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9C018-FE99-4467-9349-82CA2D7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results/{patient_id}/report.json</a:t>
            </a:r>
          </a:p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SSE-S3 + Block Public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3D813-FFE3-42E4-B609-9405AB9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A24FE-D73B-421B-9D80-46A09A33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C7BD10-4060-422D-B192-B38E215D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Lambda indexer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C3992-393C-44C6-98B7-5D1461F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S3:ObjectCreated</a:t>
            </a:r>
          </a:p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parse JSON + metadados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66AA7-E098-439A-9C18-B5392D13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BBE99-41A1-4160-B6C5-FFB50D93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D7456D-739C-44F3-99A7-1B1704E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148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DynamoDB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8F36CA-9D97-4B26-921D-9ECE622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pk=PATIENT#{id}</a:t>
            </a:r>
          </a:p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sk=TS#{timestamp}</a:t>
            </a:r>
          </a:p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TTL ativo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34092B-363D-4ED7-93B3-2FAF27F1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880BDB-2D0B-4C76-B1E0-03821FDD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FF3946-D634-4D5B-A891-D7FAF97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D622A8-6916-4030-9C4C-582C83A9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alerta email</a:t>
            </a:r>
          </a:p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quando confirmado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95E61D-62FA-43BD-B4B4-431DB777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0C7BA1-71EB-4E48-BD21-CD74DFB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34E9E7-11C1-482C-90C7-087B360E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052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25C61-CAA8-4B21-853B-163F9A48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5EDB5-CA5C-497D-A345-44BE2029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-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31E881-02BB-4FD2-88EF-EE42F54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910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58EFCF-B97B-4107-B6BA-3771B220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EA3297-B574-4EA5-9CF1-97C36A0B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90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0511EA-CA83-49C7-A6D0-C8C7818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337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upload JSON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65E1A4-7001-4FC3-8F2F-A78C86B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2C6F97-F56E-4965-8F15-CC6FF26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CloudWatch: logs e métricas da Lambda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228C37-46EA-4D9D-9453-9545423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34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A02B59-818E-45FD-9EAE-35A97598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388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CloudFormation: stack reprodutível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61EEE8-2673-4C98-9332-B70CF1B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34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0DDCB4-6E6F-47BB-8E02-B9BF847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38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Budget: controle de gasto antes do deploy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1DBBF7-4745-4A3C-A99C-73D92A6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324D5D-94EC-4D2A-8386-533AA7A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Fluxo fim a fim: local AI pipeline -&gt; S3 event -&gt; Lambda -&gt; DynamoDB/observabilidade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4D3C81-3E0A-4DF6-A4FF-3ED02B9B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5298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C3C47-625D-4A2C-943F-83B5A42C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898A2-94C2-4985-9D6F-4289466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6A3C0-3A65-485D-9C7D-6483D8B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1163-30CC-482C-8F45-A4F64B7A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 R Q U I T E T U R A   A W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7A662-3868-4C99-8689-338122E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 upload no S3 dispara a cadeia serverless que torna o resultado consultável.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EB31B-555F-4FF4-8F37-EE13363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809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E1E93-372B-4935-B45C-AAE5CA20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36889-A9E5-4F78-987C-9EBB3CAA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1. RiskReport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540B2-6EB0-4212-8500-BE113E8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Saída do Aurora Care AI gerada localmente.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B2962-9FE2-4DB3-A0C8-040AC17F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96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CD22-6FE0-4FC0-8A5E-504F7FEF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F7FB6-DF00-4FF9-959E-3F61636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28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2. S3 privado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44F9C-4D2D-44B4-ACC7-9C58A3C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Objeto em results/{patient_id}/ com criptografia SSE-S3.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727A3-9254-4D3E-8F4E-BD89D48A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196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97004-4665-4B1C-86B0-4C6B1257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DC3FD4-E25C-4863-947D-36D4CB03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3. Lambda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35886-A7D1-49CF-AEA0-EEE71A13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Evento S3:ObjectCreated aciona a função report-indexer.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2A714-E28F-46A7-AF45-DDD63A9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962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2AD1F-066E-4933-8D4B-F15DC8BA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AF67E-9EC3-4AB9-A838-91930165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4. DynamoDB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A0013-E06A-4C16-92C0-3E804F6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Registro pk/sk para busca e auditoria do histórico.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6B573-EF21-4EE3-B7F6-7B213BA7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1295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FCE90-BDBB-401A-BF55-8546A6DB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7B241-D978-4AA1-B7E2-738C31E5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289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5. SNS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9B2AF-0C49-47CC-9A6D-31B0225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718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Tópico provisionado para alertas por email.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D72CE-9723-41E8-AEC7-45A6444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671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14443-719E-4CBB-BF86-16FEB166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19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BB7AF-80D2-445C-A557-06DC6EC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6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00775-5314-47CE-B275-DFE084B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19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15178-BE9A-475E-A673-C664D72C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7FD44-ACC9-4600-BD34-C2839146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19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7466FB-B986-4482-AB9D-5708046E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671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2A533-B227-4FF7-A44C-277F733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19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439B0-5864-49FB-9F69-604E89A6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000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FC373-FBE3-4411-B2CB-7DBA1B0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5AF4D-AC6C-4084-A14E-EC343D1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Validado na prática: objeto S3 criado, Lambda invocada, item gravado no DynamoDB e logs registrados no CloudWatch.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92EBE-789C-4FE7-8540-86258663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959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SNS ficou provisionado, mas a evidência principal da entrega é o fluxo serverless funcional.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6869D7-BE67-4715-AF91-49A66A70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D080D-7A06-4EA4-AD8F-117CEDF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CloudFormation criou a stack aurora-care-ai-free-tier em us-east-1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6E89DA-6273-40C3-BE06-5AF5E49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90039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B1C5D-7352-4A2C-A856-A26EA97C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DD90F-8C90-4005-82CD-F06898C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17B8A-181A-4606-BF00-E407361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5A209-A780-424A-AC3E-5A0B0B9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 M P L E M E N T A Ç Ã 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E8E19-6CD4-4DA4-893F-C30F3FA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stack criada entrega evidência suficiente sem abrir uma frente cara de cloud.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D50C6-63FB-48D4-81E0-1BAB72D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66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EBF8B-6755-4876-9AB6-C5774B4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Recursos implantados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5D5B1-CD2C-4884-A760-27EBA491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Serviço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540F8-59B4-4274-AF06-F4557646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Nome / papel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ADF84-CEE2-486C-B847-99759258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051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Uso na entrega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EC09B-1282-40A7-A9F2-3AEBF38F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66C50-8462-439E-9CC4-1E66CB5C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S3 bucket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FBF1B-04EF-4C52-9AD5-B3055B74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28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aurora-care-ai-...-reports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8CE8F-9273-43FF-9125-8BB9DF79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Privado, SSE-S3,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B337B-42EE-4CF7-AFF3-C403F85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5A6A3-C8FD-4832-BD3E-665635A7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Lambda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BEBD4-0117-481A-AAA0-A1B8882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aurora-care-ai-report-indexer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556C3-05CE-4340-9CAF-5805D9A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480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128 MB, Python 3.12, evento S3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984E1-0C9B-48C0-B742-13F6D5B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2079C-9AC9-4E9E-AD1F-BB2CDA3F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326F1-7067-42CB-95C3-DF2DF81A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67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aurora-care-ai-reports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C1D15-94F9-4A37-AAF9-B3763E4F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7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pk/sk, TTL, SSE padrão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3A2E3-52D0-424B-876B-B67B7A0B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F6FC2-2FD5-470D-8FC8-3DE1B9BA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CloudWatch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4189E-7344-4D24-BA72-CFEE3AC2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8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/aws/lambda/...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40DBE-7BE5-45C8-A763-4AA25B30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8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logs retidos por 1 semana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FDCF6-EEFB-4FE3-A9ED-ECD30FA3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DE089-0833-489C-958A-43DDE68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CloudFormation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FEB0B-EAB6-42EA-9B13-D703FCC8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05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aurora-care-ai-free-tier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5D1C4-4AD8-4321-BCCA-F474AAF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053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infra reprodutível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83D9B-87A2-415D-890D-80B1554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6BF4C-25B5-439E-B892-F82E143A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 que evitamos para proteger o saldo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2EA09C-86C9-48BC-B07B-D03CAE3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A1EEDD-1346-4CA9-BE5B-1E94B8A1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432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SageMaker endpoints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B73D2-6877-4DFD-A45E-3ECCBC8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B0A34A-1A65-470B-979A-396CCBAE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GPU / treinamento em nuvem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52A3A-A61A-4B44-B260-F14E9EE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8B0CD5-2B63-4A5B-86AC-41FAB23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909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API Gateway + WAF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CD90F7-F87C-4A48-A70C-DA2DE0B7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727440-BDC9-4B81-B221-FEA0ACF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147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KMS CMK pago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750BDC-BF5D-4D2A-9A54-11C0C862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06EDBB-4C30-43B2-A91B-8F07F704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NAT Gateway / Load Balancer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1D1E8-0A7F-4779-B5E4-AFDDE878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2B580D-A4BD-49F6-BEA0-0F9D2D0E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624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EC2 ligada sem necessidade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3E7923-00AB-4080-91FB-059B65CF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4BABE-E685-46EC-98AA-10C514C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Escolhas conservadoras mantêm a entrega dentro do orçamento de US$100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F281DA-671C-4327-868C-A18A116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8582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AF2BB-8F8F-4590-8D30-8C66ABBF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469FB-C1E3-4FE7-A2ED-BC5AC04A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65671-9396-4D7A-B02C-35B528C5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02CC-B39C-434B-9616-BCF3EED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 V I D Ê N C I A   0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DE30E-E824-4EB1-824D-4F7A971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 relatório da IA foi armazenado no S3 como artefato auditável.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BFA8E-0BC9-43C8-85FF-A393D2BB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B3CC-3EB8-4D36-9F34-D4518830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37402-E4B0-49DB-8AC6-94F1068F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474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Amazon S3 | results/demo-001/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C5C16-5D36-445E-8B2A-0B701502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Name                                      Type      Size</a:t>
            </a:r>
          </a:p>
          <a:p xmlns:a="http://schemas.openxmlformats.org/drawingml/2006/main">
            <a:pPr algn="l">
              <a:def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pPr algn="l">
              <a:def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evidence_text_high_risk.json              json      3.9 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EAE1C-43E3-44B6-BB84-93A79F16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rPr>
              <a:t>Bucket: aurora-care-ai-219834006479-us-east-1-reports</a:t>
            </a:r>
          </a:p>
          <a:p xmlns:a="http://schemas.openxmlformats.org/drawingml/2006/main">
            <a:pPr algn="l">
              <a:def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rPr>
              <a:t>Path: results/demo-001/evidence_text_high_risk.json</a:t>
            </a:r>
          </a:p>
          <a:p xmlns:a="http://schemas.openxmlformats.org/drawingml/2006/main">
            <a:pPr algn="l">
              <a:def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FC3D6"/>
                </a:solidFill>
                <a:latin typeface="Aptos Mono"/>
                <a:ea typeface="Aptos Mono"/>
                <a:cs typeface="Aptos Mono"/>
              </a:rPr>
              <a:t>Storage class: Standard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23673-794D-42D5-B0E6-585B0D36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381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B8604-A421-4B9A-9726-8E92B1AF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Resumo do RiskReport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74D42-8FD4-4E7C-8B31-E78B75A8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multimodal_score_0_1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030E9-DFA5-44D4-AED3-390181B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0.629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706C-D1C2-402D-B3A3-470AE7E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67A40-B2AB-406E-B3BD-9B4D5F37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medium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0C737-40DA-43FF-AB2F-AA1276F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Sinais principais detectados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E25E6-BB9C-4F09-BD0F-03C4845D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safety_concern | control_or_coercion | isolation | hopelessness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C19DC-8866-4A52-8950-CC1D1051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ECDAC-CBE5-4192-A3C9-DD54EA2A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Evidência: bucket S3 com objeto JSON aberto via URL assinada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1A172-8AFF-4897-BDEC-B212DC4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21493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35458-7C78-438E-847C-027077D7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DBDEC-244B-4416-A2E7-05FEFDB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0E06E-05B6-4580-A55E-92261419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1D82A-6856-4EE1-A9DF-1F57041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 V I D Ê N C I A   0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A9FD7-F4CA-40FE-B3EA-EA0E778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 Lambda foi acionada pelo evento do S3 e deixou rastros operacionais.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E5084-5562-40F6-ACB4-2D92F0F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762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2C51-2D5B-4F7D-9492-CC5C5279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Lambda Monitor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CE285-FE8E-4953-97A2-3B0C150E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Function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BD38D-1BF3-452D-AE63-C987E13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aurora-care-ai-report-indexer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3CB5E-0034-40A1-9D61-D542F1FB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Invocations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57125-EA09-4218-9D88-638993F3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A061F-020D-4652-A41F-B762D0D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814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47080-0F38-4828-9DB4-C9F58D81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29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~274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6E595-8152-4B56-92DE-A2F4039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5F623-79C1-41F5-9B8B-892B8BA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S3:ObjectCreated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D98F5-3482-4FBE-8D34-D25F5E3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5048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9E81C-A6ED-42DC-8D66-4F899C0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222EB-EB08-4C74-87D9-0A974E3B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28825"/>
            <a:ext cx="474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CloudWatch Logs | /aws/lambda/aurora-care-ai-report-indexer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FBCBC-D83A-422F-AB48-259D501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3338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START RequestId: ... Version: $LATEST</a:t>
            </a:r>
          </a:p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[ERROR] JSONDecodeError: expecting value...</a:t>
            </a:r>
          </a:p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END RequestId: ...</a:t>
            </a:r>
          </a:p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REPORT RequestId: ... Duration: 273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Observação: mesmo com erro em uploads não-JSON,</a:t>
            </a:r>
          </a:p>
          <a:p xmlns:a="http://schemas.openxmlformats.org/drawingml/2006/main">
            <a:pPr algn="l">
              <a:def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8EEF5"/>
                </a:solidFill>
                <a:latin typeface="Aptos Mono"/>
                <a:ea typeface="Aptos Mono"/>
                <a:cs typeface="Aptos Mono"/>
              </a:rPr>
              <a:t>o log prova invocação automática da Lambda.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7AFBF-815F-4954-B379-3A6AE974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707C0-AAD8-40C7-9C5F-EE8C50E0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577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3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3D6"/>
                </a:solidFill>
                <a:latin typeface="Aptos"/>
                <a:ea typeface="Aptos"/>
                <a:cs typeface="Aptos"/>
              </a:rPr>
              <a:t>Para a apresentação: usar o log como prova de execução serverless; a correção fina da Lambda é melhoria opcional.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8D326-D623-4C86-AF4A-9AEE35D5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4CBF5-C439-4641-87C4-F777953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Evidência: monitoramento Lambda + CloudWatch Log Group e Log Stream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9C17A-22D6-43E5-813B-657FF6D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18079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78A08-EA3C-4486-9F7D-B967C4D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9890-00A6-44CF-950D-DA0A1877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C5991-8B64-4B77-8FF6-BA3748F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7723D-3DF3-420C-8EBE-33EECE07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E G U R A N Ç A   E   G O V E R N A N Ç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8E6F0-2971-4FE8-9134-F04A2A0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Os controles de custo, privacidade e retenção foram tratados como parte da arquitetura.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8F263-E405-42ED-BB38-A0EA924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0001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D738A-0E79-46A5-AE9C-2D07AE88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Dimensão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CB13-D72D-48A9-B2A2-8E39F2B8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90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Controle aplicado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09818-08CE-4DC8-A662-F29C1ED8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Por que importa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D2D05-F3AC-4FE5-8582-906D3A67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5F89A-E34E-42D3-A50B-0EFDAC0F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Custo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40773-8036-4473-AE84-7DD7364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Budget de segurança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DC4D0-C6BA-4DA6-A80C-DC8900E8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Alertas antes do consumo relevante do saldo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382E7-1A29-498D-9D91-23D70E80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7955F-90C7-4696-9285-21138C7B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1AD01-DBDD-43C5-AF9B-94098ECD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Block Public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7AF22-3CDD-41A1-A259-A5566AE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Relatórios não ficam públicos por padrão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EDBDE-7B21-4660-824D-F0C1F843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34AD5-6C67-45AA-80DA-B5361A3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7124D-5DEC-4366-AC57-EF08A419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86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SSE-S3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CDDCD-D9D3-487B-AC12-25C06091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Criptografia server-side sem KMS pago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DEC6E-1E09-45FA-83D2-40F59BA1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45E08-AB3B-4615-92A0-D0EC8182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Retenção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AE1D6-0D7E-45B7-98F1-167115B5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05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Lifecycle 30 dias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8AB65-8CAC-437D-AB6A-F13F4981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Expiração automática dos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E9FCA-98D4-4542-85C3-78FB15EE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BE61C-56AA-4D7E-A4AE-565EE070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37183-1AD5-40FC-8A27-35AA796C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BDC5C-5E9B-4F42-809E-7FA116F3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Índice também expira por política de retenção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D2AB6-3743-4BA3-A7E6-8BE3939B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E1358-1F55-4CF6-BB66-BBEAF2A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7F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7F2C"/>
                </a:solidFill>
                <a:latin typeface="Aptos"/>
                <a:ea typeface="Aptos"/>
                <a:cs typeface="Aptos"/>
              </a:rPr>
              <a:t>Auditoria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3CD7F3-5FF6-4BE1-9ADE-623AA235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CloudWatch / CloudTrail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3D3489-DCB1-4558-B8DA-7F5DD39F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434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Execuções e eventos ficam rastreáveis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187EC-F2BC-45B6-B7DD-AE43DCE2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673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LGPD: a nuvem recebe apenas o resultado de risco pseudonimizado, não a mídia bruta sensível.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AECEEC-ED0F-49E5-BDD0-267D52A9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3A0BBA-97F7-4187-8043-1064F431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Evidências sugeridas: S3 Permissions, S3 Properties, S3 Management e Billing Budget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B90ECE-E52E-4F9F-9E42-31F453D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02176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81AF3-0673-4917-B496-51B96D98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DCFE3-63F5-41B0-9DB2-CD23906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2C5FE-19D5-4DBC-B06C-C6126BE1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82787-0987-4617-B3CF-007EF64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 O T E I R O   D E   A P R E S E N T A Ç Ã 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E79C7-BCE2-4A72-90F5-9B24E08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Mensagem final: a integração cloud foi pequena por desenho, não por falta de arquitetura.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B27B5-B8F4-4573-B1D0-A71B874B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18B63-A521-4167-85ED-DE46C0F3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Fala sugerida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62AA-8D83-4DF3-BF79-F0EDF0F0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“Seguindo a orientação da disciplina, integrei uma parte funcional da solução à AWS. A inferência multimodal roda localmente para controlar custo, e a AWS faz persistência segura, evento serverless e indexação auditável do RiskReport.”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8EF19-2EF8-4B84-B01A-99ED0C2D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952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“A evidência prática é o fluxo S3 → Lambda → DynamoDB, criado por CloudFormation e monitorado no CloudWatch.”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A7011-1193-4AAB-A9D0-342DEEA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8120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88070-E192-4AC8-A5AB-103153C9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Checklist de evidências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0F673-A208-4D5C-B86B-9437412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F3E69-3E40-456C-A2BA-E9DDD1F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CloudFormation: CREATE_COMPLETE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ED6F8-1EAF-4708-B6EC-A470AC7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F9F42-68F1-4991-8B7A-33D94C1C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S3: objeto evidence_text_high_risk.json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E2C7C-6441-4A9D-A361-762ACF41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07273-2710-4962-A50E-E54D5D3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DynamoDB: item indexado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5F77-534C-4EDF-A283-6B8BE7E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6F6AE-5096-451E-B5FC-358DD551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Lambda: monitor com invocações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CB8359-E9EB-4E13-B276-EF0CF93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C37A9-614C-493E-B33E-E8C7608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CloudWatch: log stream da função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12F9E-DA58-4A35-980F-79988961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388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54D74-035D-4C15-B1C7-26168FED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70547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suficiente para o requisito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30AF4-6A58-41EF-9D66-A54DCA8D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388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B3A8A4-768B-4429-AF56-05B6DAF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0547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risco desnecessário ao saldo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ADA5D-3BEE-4F0A-9561-1E53E2CF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F824E-24C8-4B7F-9C8A-805CE24B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Próximo opcional: ajustar Lambda para extrair patient_id do caminho S3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A1353-91A9-41CD-9341-1B45245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52502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F14E4-06AA-49C4-87F4-58ECC76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EF7-B8B2-482B-A58E-B9182CC6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3B76-01D8-4958-84EB-60865DD7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DD93E-FF46-4BA3-940A-3A5EF77B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 R I N T S   D A   E X E C U Ç Ã 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57DAC-048B-4805-A4FA-FB7DF2B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Evidências capturadas no Console AWS.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9C962-4EB8-446D-A322-0EECCEE4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0F75-3E79-4223-80EC-0B2E701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374CD-2004-4305-9B6A-31F3CB22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CloudFormation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15056-7481-4E56-9CD6-8799DBC5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70FBC-4722-464C-A5A7-EF7E4BD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Stack: aurora-care-ai-free-tier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36FD8-0FFA-4986-A250-A893FC97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18236-3C10-4870-9024-B0EE2360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Status: CREATE_COMPLETE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18F69-752B-411D-8723-5304F68A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660B0-C298-4BD2-9882-9B96F4D9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Região: us-east-1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38947-54E5-437D-AB51-A375739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90CCF-6CE9-4DAE-AB28-DD50D44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E3C70-216B-4137-9B63-96B4AFB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Amazon 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91628-6E4F-4C5C-A8D0-435435A0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4971A-A069-4427-B4F2-D991ED0A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Bucket: aurora-care-ai-...-reports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972B6-7F9D-43A2-8FD9-96787BF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8C24E-0D11-4E75-B129-4121632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431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Objeto: evidence_text_high_risk.json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CDD9D-0150-4271-9007-F752BF29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C9915-364C-4ABF-A0E2-7ABFFECD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Prefixo: results/demo-001/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80B31-83C4-4F49-BF90-243D04B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C7436F-D807-4368-AA70-D0E3995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B339E-ED85-4F72-A2FE-69A980D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859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DynamoDB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33A96-786D-450A-9D2A-89C4D47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F8C3AC-928F-4053-8939-B14277E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Tabela: aurora-care-ai-reports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9B1F5-00C0-405A-A03C-51C79255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EE582-2AFA-49B8-A4FD-70233E4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431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Itens retornados: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92F3A-E61B-4072-97D1-095DE4E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D0AA94-1B1A-400F-9C6F-CD3CD30B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score=0.629 | level=monitorar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47FA6-6360-4210-9362-880E7AE8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628C0-BF6A-435C-8742-6F5190B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16CCE-4783-4349-A355-EA719B62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Lambda Monitor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AE7A07-EF41-441D-8434-3751137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C2F472-D569-4486-A64F-8335264C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Função: aurora-care-ai-report-indexer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A4A433-8C32-443F-94DC-A6C2E1E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B95FA0-91C4-4FC2-B828-E23639CB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386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Trigger: S3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B3C9CB-219A-443E-BC50-54DB71F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11EBE4-8438-4E33-AB44-F060EE44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Invocações registradas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E2222F-2953-41F7-9737-EF014EC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55FBF2-E299-4CE6-845A-C7D80C3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A4BC89-FFC0-40FE-BE37-DCE2DD6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CloudWatch Logs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07AD49-A511-4EAB-B97E-A27E4A7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9A963A-C697-4B1C-B90A-D78A90E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Log group: /aws/lambda/...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267843-B96B-4A8A-A879-A2D0FA3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0FD923-DC23-4209-9733-0FE60187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386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START / END / REPORT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8C34F6-0937-4000-8839-5077FED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2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46E145-D2C7-423E-9A8E-B099E62F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RequestId e duração registrados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C594B3-639D-40CC-908F-33119C0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81FFF9-3D63-499E-89EC-598D39A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1AAA4F-02AA-4D58-B5E1-69945B3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876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E4F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6E4F0"/>
                </a:solidFill>
                <a:latin typeface="Aptos"/>
                <a:ea typeface="Aptos"/>
                <a:cs typeface="Aptos"/>
              </a:rPr>
              <a:t>S3 JSON aberto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B3D902-393D-4746-925E-6CAB778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285EA-7BA6-43F5-AD6D-6F164D37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RiskReport armazenado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692939-7794-474C-83CB-01BBD5F6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623112-648E-4834-85F0-9DB5B4C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386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multimodal_score_0_1=0.629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6A4255-31AB-4EE0-A454-FDF74E21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2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BFC78D-DC0D-4750-953A-E45AA77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768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E8EEF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E8EEF5"/>
                </a:solidFill>
                <a:latin typeface="Aptos"/>
                <a:ea typeface="Aptos"/>
                <a:cs typeface="Aptos"/>
              </a:rPr>
              <a:t>labels e evidências auditáveis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FECF5A-B76E-438E-B500-2E410530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Nota: os quadros resumem os prints enviados e podem ser substituídos pelos arquivos PNG originais se forem salvos localmente.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E80D11-4D8F-4FF5-8C8B-9680BFA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C6F880-9782-4373-88F7-2E01788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Evidências: CloudFormation, S3, DynamoDB, Lambda Monitor, CloudWatch Logs e JSON do report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17B0FAF-AB30-4838-97E7-AE7059F4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341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207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2026-05-19T02:19:21.7050000Z</dcterms:created>
  <dcterms:modified xsi:type="dcterms:W3CDTF">2026-05-19T02:19:21.7050000Z</dcterms:modified>
</coreProperties>
</file>